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10545775" cy="5394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1188720"/>
            <a:ext cx="4114800" cy="32004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93C5FD"/>
                </a:solidFill>
                <a:latin typeface="Segoe UI"/>
              </a:defRPr>
            </a:pPr>
            <a:r>
              <a:t>RESEARCH CAPSTONE | NATURE-INSPIRED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4592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MutationHunter: Nature-Inspired Detection &amp; Prioritization of Conflicting Genetic Variant Classifications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Combinatorial Biomarker Optimization &amp; Discordance Classification Using Genetic Algorithms (GA) and Particle Swarm Optimization (PSO)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3474720"/>
            <a:ext cx="46634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3611880"/>
            <a:ext cx="4206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PROJECT TEAM MEMBERS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[Student Name 1]  —  Roll No: [Roll Number 1]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[Student Name 2]  —  Roll No: [Roll Number 2]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[Student Name 3]  —  Roll No: [Roll Number 3]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474720"/>
            <a:ext cx="46634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3611880"/>
            <a:ext cx="4206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ACADEMIC MENTORSHIP &amp; INSTITUTION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Project Guide: [Guide Name / Faculty Advisor]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Designation: [Associate Professor / Professor]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Department: Department of Computer Science &amp; Engineering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Institution: [College / University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CONTEXT &amp; CLINICAL BOTTLENECK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320040"/>
            <a:ext cx="109728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2: Problem Statement &amp; Clinical Motivation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Addressing diagnostic discordance in multi-submitter genetic variant repositories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MutationHunter | Nature-Inspired Computing (GA &amp; PSO) in Clinical Genomics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6975" y="649224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ClinVar Conflicting Variant Study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383280" cy="1005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389888"/>
            <a:ext cx="3346704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481328"/>
            <a:ext cx="3054096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DC2626"/>
                </a:solidFill>
                <a:latin typeface="Segoe UI"/>
              </a:defRPr>
            </a:pPr>
            <a:r>
              <a:t>25.2%</a:t>
            </a:r>
          </a:p>
          <a:p>
            <a:pPr>
              <a:spcBef>
                <a:spcPts val="1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Clinical Discordance Rate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1 in 4 variants receive conflicting classifications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38328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389888"/>
            <a:ext cx="3346704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481328"/>
            <a:ext cx="3054096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D97706"/>
                </a:solidFill>
                <a:latin typeface="Segoe UI"/>
              </a:defRPr>
            </a:pPr>
            <a:r>
              <a:t>46+ Features</a:t>
            </a:r>
          </a:p>
          <a:p>
            <a:pPr>
              <a:spcBef>
                <a:spcPts val="1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Genomic Dimensionality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Collinear in silico tools obscure true drivers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383280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389888"/>
            <a:ext cx="334670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481328"/>
            <a:ext cx="3054096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Segoe UI"/>
              </a:defRPr>
            </a:pPr>
            <a:r>
              <a:t>Months Delay</a:t>
            </a:r>
          </a:p>
          <a:p>
            <a:pPr>
              <a:spcBef>
                <a:spcPts val="1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Manual Consensus Review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Expert panels require extensive committee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560320"/>
            <a:ext cx="3383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" y="2578608"/>
            <a:ext cx="3346704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4320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What Problem Are We Solving?</a:t>
            </a:r>
          </a:p>
          <a:p>
            <a:pPr>
              <a:spcBef>
                <a:spcPts val="200"/>
              </a:spcBef>
              <a:defRPr sz="1000" b="1">
                <a:solidFill>
                  <a:srgbClr val="DC2626"/>
                </a:solidFill>
                <a:latin typeface="Segoe UI"/>
              </a:defRPr>
            </a:pPr>
            <a:r>
              <a:t>Discordant Variant Interpretations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Independent diagnostic laboratories (Ambry, GeneDx, Invitae) submit contradictory clinical calls for identical variants.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A single mutation may be labelled 'Pathogenic' by one lab and 'Benign' or 'VUS' by another.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High-dimensional tables have heavy multicollinearity across CADD, SIFT, and PolyPhen predictors.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560320"/>
            <a:ext cx="3383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7408" y="2578608"/>
            <a:ext cx="3346704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74320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Why Is It Important?</a:t>
            </a:r>
          </a:p>
          <a:p>
            <a:pPr>
              <a:spcBef>
                <a:spcPts val="200"/>
              </a:spcBef>
              <a:defRPr sz="1000" b="1">
                <a:solidFill>
                  <a:srgbClr val="D97706"/>
                </a:solidFill>
                <a:latin typeface="Segoe UI"/>
              </a:defRPr>
            </a:pPr>
            <a:r>
              <a:t>Severe Healthcare Consequences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In oncology, discordant calls lead to either missing lethal malignancies or administering toxic unnecessary chemotherapies.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In medical genetics, patients undergo extended diagnostic odysseys without clear therapeutic pathways.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Manual consensus requires months of multi-institutional expert panel review per contested variant.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560320"/>
            <a:ext cx="3383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5008" y="2578608"/>
            <a:ext cx="3346704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74320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Who Will Benefit?</a:t>
            </a:r>
          </a:p>
          <a:p>
            <a:pPr>
              <a:spcBef>
                <a:spcPts val="200"/>
              </a:spcBef>
              <a:defRPr sz="1000" b="1">
                <a:solidFill>
                  <a:srgbClr val="059669"/>
                </a:solidFill>
                <a:latin typeface="Segoe UI"/>
              </a:defRPr>
            </a:pPr>
            <a:r>
              <a:t>Genomic Medicine Stakeholders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Clinical Testing Labs: Automated quality-control filter flagging high-conflict mutations before sign-out.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Genetic Counselors: Actionable biological explainability showing exactly why classifications diverge.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Patients: Faster turnaround, accurate treatment selection, and greater diagnostic certainty.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GOALS &amp; EVALUATION CRITERIA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320040"/>
            <a:ext cx="109728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03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3: Project Objectives &amp; Expected Outcomes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Navigating 1.07 billion combinatorial subsets to evolve interpretable diagnostic panels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MutationHunter | Nature-Inspired Computing (GA &amp; PSO) in Clinical Genomics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6975" y="649224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ClinVar Conflicting Variant Study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481328"/>
            <a:ext cx="517550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4592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1. Main Project Goal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Formulate Nature-Inspired Computing (NIC) algorithms to navigate the 2^30 (~1.07 Billion) combinatorial feature search space in ClinVar.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Prune redundant and collinear genomic attributes while retaining high-fidelity biophysical biomarkers.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Detect and prioritize conflicting clinical variant assertions (CLASS=1) versus consistent submissions (CLASS=0).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481328"/>
            <a:ext cx="5175504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4592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Segoe UI"/>
              </a:defRPr>
            </a:pPr>
            <a:r>
              <a:t>2. Proposed Solution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Implement a Darwinian Genetic Algorithm (GA) with tournament selection, uniform crossover, and bit-flip mutation.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Implement Binary Particle Swarm Optimization (BPSO) with velocity clamping and sigmoid transfer mapping.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Train cost-sensitive balanced Random Forest ensembles on the evolved biomarker panels to overcome 75/25 class imbalance.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77639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3995927"/>
            <a:ext cx="5175504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Segoe UI"/>
              </a:defRPr>
            </a:pPr>
            <a:r>
              <a:t>3. Expected Outcome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Achieve over 70% feature dimensionality reduction while matching or exceeding full 30-feature baseline accuracy.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Uncover biologically verified drivers of discordance (gene loss-of-function intolerance, maximum allele frequency, high consequence impact).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Significantly accelerate inference latency to enable real-time clinical integration.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77639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3995927"/>
            <a:ext cx="5175504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6052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Segoe UI"/>
              </a:defRPr>
            </a:pPr>
            <a:r>
              <a:t>4. Quantitative Success Criteria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Classification Accuracy &gt;= 70.0% and ROC-AUC &gt;= 0.76 on held-out test split of 13,038 variants.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Feature Sparsity: &gt;= 80% reduction with GA and &gt;= 70% reduction with BPSO.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Inference Speed: Sub-50 millisecond per-variant classification latency.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Interactive Deployment: Functional clinical decision dashboard with live explainability.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DATA &amp;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320040"/>
            <a:ext cx="109728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04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4: Dataset Specifications &amp; System Architecture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NCBI ClinVar 65,188 human genomic variant repository and end-to-end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MutationHunter | Nature-Inspired Computing (GA &amp; PSO) in Clinical Genomics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6975" y="649224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ClinVar Conflicting Variant Study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4846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389888"/>
            <a:ext cx="480974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55448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ClinVar Conflicting Dataset 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1874519"/>
            <a:ext cx="214884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2688" y="1892807"/>
            <a:ext cx="211226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1984247"/>
            <a:ext cx="1819656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2563EB"/>
                </a:solidFill>
                <a:latin typeface="Segoe UI"/>
              </a:defRPr>
            </a:pPr>
            <a:r>
              <a:t>65,188</a:t>
            </a:r>
          </a:p>
          <a:p>
            <a:pPr>
              <a:spcBef>
                <a:spcPts val="1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Human Variants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Verified ClinVar cohort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1874519"/>
            <a:ext cx="214884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64408" y="1892807"/>
            <a:ext cx="2112264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0712" y="1984247"/>
            <a:ext cx="1819656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4F46E5"/>
                </a:solidFill>
                <a:latin typeface="Segoe UI"/>
              </a:defRPr>
            </a:pPr>
            <a:r>
              <a:t>30 Features</a:t>
            </a:r>
          </a:p>
          <a:p>
            <a:pPr>
              <a:spcBef>
                <a:spcPts val="1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Engineered Inputs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Across 5 clinical domains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2816352"/>
            <a:ext cx="214884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688" y="2834640"/>
            <a:ext cx="2112264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2926080"/>
            <a:ext cx="1819656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D97706"/>
                </a:solidFill>
                <a:latin typeface="Segoe UI"/>
              </a:defRPr>
            </a:pPr>
            <a:r>
              <a:t>75% / 25%</a:t>
            </a:r>
          </a:p>
          <a:p>
            <a:pPr>
              <a:spcBef>
                <a:spcPts val="1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Class Imbalance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48.7k Consist. / 16.4k Conf.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2816352"/>
            <a:ext cx="214884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64408" y="2834640"/>
            <a:ext cx="2112264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0712" y="2926080"/>
            <a:ext cx="1819656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59669"/>
                </a:solidFill>
                <a:latin typeface="Segoe UI"/>
              </a:defRPr>
            </a:pPr>
            <a:r>
              <a:t>80 / 20 Split</a:t>
            </a:r>
          </a:p>
          <a:p>
            <a:pPr>
              <a:spcBef>
                <a:spcPts val="1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Stratified Partition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52,150 Train / 13,038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77639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Source &amp; Genomic Annotation Integration: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Dataset Source: NCBI ClinVar (kevinarvai/clinvar-conflicting), MUTATIONHUNTER Rank 1.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Integrated Databases: ExAC, 1000 Genomes (TGP), ESP6500, CADD v1.6, LoFtool intolerance.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Technology Stack: Python 3.14, Scikit-Learn, Pandas, NumPy, Flask, Chart.js, Bootstrap 5.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0" y="1371600"/>
            <a:ext cx="5577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70448" y="1389888"/>
            <a:ext cx="5541264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15544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End-to-End System Pipeline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2057400"/>
            <a:ext cx="52120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26480" y="2167128"/>
            <a:ext cx="411480" cy="40233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112264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Raw Ingestion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Stream 65,188 ClinVar variant records with 46 multi-attribute columns.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2734056"/>
            <a:ext cx="52120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26480" y="2843784"/>
            <a:ext cx="411480" cy="40233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278892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Preprocessing &amp; Imputation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Zero-fill novel population AFs, median-impute CADD/LoFtool, encode consequences.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0" y="3410712"/>
            <a:ext cx="52120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26480" y="3520440"/>
            <a:ext cx="411480" cy="40233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3465576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Evolutionary Search Cohort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Extract 5,000 stratified variant sample to enable ultra-rapid fitness evaluation.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0" y="4087368"/>
            <a:ext cx="52120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126480" y="4197096"/>
            <a:ext cx="411480" cy="40233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142232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Nature-Inspired Optimization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Run Darwinian GA (20 gen) and Binary PSO (15 iter) to prune uninformative noise.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0" y="4764024"/>
            <a:ext cx="52120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26480" y="4873752"/>
            <a:ext cx="411480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4818888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Ensemble Modeling &amp; Benchmarking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Train cost-sensitive balanced Random Forest models on evolved biomarker panels.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5440680"/>
            <a:ext cx="52120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26480" y="5550408"/>
            <a:ext cx="411480" cy="40233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5495544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Clinical Decision Dashboard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Interactive Flask web prototype with real-time inference &amp; biological explainability.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METAHEURISTIC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320040"/>
            <a:ext cx="109728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05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5: Nature-Inspired Computing (NIC) Formulations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Darwinian Genetic Algorithm vs. Binary Particle Swarm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MutationHunter | Nature-Inspired Computing (GA &amp; PSO) in Clinical Genomics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6975" y="649224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ClinVar Conflicting Variant Study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389888"/>
            <a:ext cx="5175504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5544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Segoe UI"/>
              </a:defRPr>
            </a:pPr>
            <a:r>
              <a:t>Genetic Algorithm (GA) - Darwinian Selection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011680"/>
            <a:ext cx="484632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Multi-Objective Fitness Formulation:</a:t>
            </a:r>
          </a:p>
          <a:p>
            <a:pPr>
              <a:defRPr sz="1100" b="1">
                <a:solidFill>
                  <a:srgbClr val="0F172A"/>
                </a:solidFill>
                <a:latin typeface="Consolas"/>
              </a:defRPr>
            </a:pPr>
            <a:r>
              <a:t>Fitness(c) = 0.92 · AUC_CV(c) + 0.08 · (1 - |c| / 30)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Biological Basis:  Natural selection, survival of the fittest, and genetic mutation.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Chromosome Encoding:  Binary string c in {0, 1}^30. Bit i = 1 includes feature; 0 prunes it.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Selection Mechanism:  Tournament Selection (k = 3) favoring high-affinity chromosomes.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Crossover Operator:  Uniform Crossover (Pc = 0.85) facilitating genetic trait exploration.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Mutation Operator:  Bit-Flip Mutation (Pm = 0.04) preventing premature convergence.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Elitism Strategy:  Top 2 elite chromosomes preserved unchanged across 20 generations.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Evolved Biomarkers:  LoFtool, AF_TGP, Max_AF, IMPACT_HIGH (4 features -&gt; 86.7% reduction!).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389888"/>
            <a:ext cx="517550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Binary Particle Swarm Optimization (BPSO)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011680"/>
            <a:ext cx="4846320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Velocity Update &amp; Sigmoid Transfer Function: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v_i(t+1) = w·v_i + c1·r1·(pbest - x_i) + c2·r2·(gbest - x_i) ;  S(v) = 1/(1+e^-v)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2608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Biological Basis:  Collective swarm intelligence observed in bird flocking and fish schooling.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Swarm Topology:  20 particles navigating a 30-dimensional discrete Boolean hypercube.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Inertia &amp; Social Pull:  Inertia w = 0.729; Cognitive c1 = 1.494; Social c2 = 1.494.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Velocity Clamping:  Clamped to [-4.0, +4.0] to prevent sigmoid saturation and bit lock.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Bit Transfer Rule:  Bit x_ij = 1 if rand() &lt; S(v_ij) else 0.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Convergence Speed:  Converged rapidly in 15 iterations (34.25s runtime).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Evolved Biomarkers:  9 Features (LoFtool, AF_EXAC, AF_TGP, Max_AF, CHROM_num, IMPACTs...).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Champion Result:  Achieved highest overall accuracy (70.40%) &amp; Macro F1 (0.6602)!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METHODOLOGY &amp; EXPERIMENTS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320040"/>
            <a:ext cx="109728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6: Research Methodology &amp; Experimental Design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Rigorous 4-stage scientific framework from raw ClinVar curation to clinical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MutationHunter | Nature-Inspired Computing (GA &amp; PSO) in Clinical Genomics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6975" y="649224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ClinVar Conflicting Variant Study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25146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389888"/>
            <a:ext cx="247802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554480"/>
            <a:ext cx="10972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202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Preprocessing &amp;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1460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Missing Data Imputation: Zero-fill novel AFs (ESP, ExAC, TGP); median impute CADD and LoFtool.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Composite AF Features: Max_AF = max(AF_ESP, AF_EXAC, AF_TGP) capturing rare vs common bounds.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Novel Variant Flag: Is_Novel = 1 when unobserved across all global population reference cohorts.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Categorical Encoding: One-hot encoded IMPACT, CLNVC, and CSQ consequence categories.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1371600"/>
            <a:ext cx="25146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1389888"/>
            <a:ext cx="2478024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39312" y="1554480"/>
            <a:ext cx="1097280" cy="2743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19202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NIC Algorithm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251460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Stratified Search Cohort: 5,000 balanced variants dedicated to rapid metaheuristic evaluation.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Fast Fitness Evaluation: 3-Fold Stratified Cross-Validation on each candidate feature chromosome.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Class Imbalance Mitigation: Balanced class weights preventing majority class dominance.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Convergence Tracking: Real-time generational recording of fitness score and chromosome sparsity.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1371600"/>
            <a:ext cx="25146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2" y="1389888"/>
            <a:ext cx="2478024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64224" y="1554480"/>
            <a:ext cx="109728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19202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Model 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51460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Full Baseline 1: Random Forest (80 trees, depth 10) trained on all 30 engineered features.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Linear Baseline 2: L2-penalized Logistic Regression on all 30 features.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NIC GA Model: Random Forest trained solely on the 4 GA-evolved biomarkers.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NIC PSO Model: Random Forest trained solely on the 9 PSO-evolved biomarkers.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06256" y="1371600"/>
            <a:ext cx="25146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4544" y="1389888"/>
            <a:ext cx="2478024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89136" y="1554480"/>
            <a:ext cx="1097280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19202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Validation &amp; Profiling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9136" y="251460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Strict Held-Out Split: 13,038 unseen ClinVar variants completely isolated from optimization.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Evaluation Metrics: Test Accuracy, Macro F1, Precision, Recall, and ROC-AUC.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Computational Profiling: Search runtime, model training latency, and per-variant inference speed.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 Visual Diagnostics: Side-by-side confusion matrices and ROC curve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QUANTITATIVE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320040"/>
            <a:ext cx="109728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07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7: Performance Metrics &amp; Evaluation Profiling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Evaluation across 13,038 strictly held-out ClinVar test 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MutationHunter | Nature-Inspired Computing (GA &amp; PSO) in Clinical Genomics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6975" y="649224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ClinVar Conflicting Variant Study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2514600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389888"/>
            <a:ext cx="247802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481328"/>
            <a:ext cx="2185416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2563EB"/>
                </a:solidFill>
                <a:latin typeface="Segoe UI"/>
              </a:defRPr>
            </a:pPr>
            <a:r>
              <a:t>70.40%</a:t>
            </a:r>
          </a:p>
          <a:p>
            <a:pPr>
              <a:spcBef>
                <a:spcPts val="1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Accuracy (PSO Champion)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Outperformed 30-feature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371600"/>
            <a:ext cx="2514600" cy="10058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1389888"/>
            <a:ext cx="2478024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481328"/>
            <a:ext cx="2185416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59669"/>
                </a:solidFill>
                <a:latin typeface="Segoe UI"/>
              </a:defRPr>
            </a:pPr>
            <a:r>
              <a:t>86.7%</a:t>
            </a:r>
          </a:p>
          <a:p>
            <a:pPr>
              <a:spcBef>
                <a:spcPts val="1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Feature Reduction (GA)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Pruned 26 noisy features down to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371600"/>
            <a:ext cx="2514600" cy="10058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389888"/>
            <a:ext cx="2478024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481328"/>
            <a:ext cx="2185416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4F46E5"/>
                </a:solidFill>
                <a:latin typeface="Segoe UI"/>
              </a:defRPr>
            </a:pPr>
            <a:r>
              <a:t>0.6602</a:t>
            </a:r>
          </a:p>
          <a:p>
            <a:pPr>
              <a:spcBef>
                <a:spcPts val="1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Macro F1-Score (PSO)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Superior detection of minority conflict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1371600"/>
            <a:ext cx="251460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24544" y="1389888"/>
            <a:ext cx="2478024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0848" y="1481328"/>
            <a:ext cx="2185416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D97706"/>
                </a:solidFill>
                <a:latin typeface="Segoe UI"/>
              </a:defRPr>
            </a:pPr>
            <a:r>
              <a:t>37.7 ms</a:t>
            </a:r>
          </a:p>
          <a:p>
            <a:pPr>
              <a:spcBef>
                <a:spcPts val="1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Inference Latency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Ultra-fast clinical decision response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560320"/>
            <a:ext cx="69494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" y="2578608"/>
            <a:ext cx="691286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269748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Comprehensive Benchmark on 13,038 Held-Out Test Variants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914400" y="3108960"/>
          <a:ext cx="6583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640080"/>
                <a:gridCol w="731520"/>
                <a:gridCol w="731520"/>
                <a:gridCol w="731520"/>
                <a:gridCol w="731520"/>
                <a:gridCol w="1097280"/>
              </a:tblGrid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Model Name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Feats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Status / Notes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Random Forest (Base)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69.50%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0.6549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0.6974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0.7658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Conventional Baseline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Logistic Reg. (Base)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61.75%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0.5966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0.6691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0.7002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Linear Baseline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Genetic Alg. (GA) + RF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68.25%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0.6432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0.6867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0.7514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🌿 86.7% Pruned (Parsimonious)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Particle Swarm (PSO) + RF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70.40%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0.6602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0.6974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0.7630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🏆 Champion Model (Best Acc)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914400" y="534924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Key Takeaway: PSO + RF achieved the highest test accuracy (70.40%) and highest Macro F1 (0.6602) across all models, proving that nature-inspired feature pruning removes collinear noise and enhances generalization.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2560320"/>
            <a:ext cx="34747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73567" y="2578608"/>
            <a:ext cx="3438144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59" y="26974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Computational Profiling &amp; Latency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310896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Optimization Search Runtime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• BPSO (15 iter): 34.25s (2.1x faster)</a:t>
            </a:r>
            <a:br/>
            <a:r>
              <a:t>• GA (20 gen): 72.27s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Model Training Latency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• PSO Model: 0.402s (20% faster than baseline)</a:t>
            </a:r>
            <a:br/>
            <a:r>
              <a:t>• Baseline RF: 0.502s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Per-Variant Inference Speed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• PSO Model: 37.69 ms / variant</a:t>
            </a:r>
            <a:br/>
            <a:r>
              <a:t>• Baseline Model: 40.72 ms / variant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Memory Footprint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• Peak RAM &lt; 280 MB during 65k training</a:t>
            </a:r>
            <a:br/>
            <a:r>
              <a:t>• Lightweight model artifacts (&lt; 1.5 MB)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VISUAL DIAGNOSTICS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320040"/>
            <a:ext cx="109728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08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8: Results &amp; Visual Comparison Charts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ROC curves and generational fitness convergence validating nature-inspired pruning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MutationHunter | Nature-Inspired Computing (GA &amp; PSO) in Clinical Genomics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6975" y="649224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ClinVar Conflicting Variant Study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389888"/>
            <a:ext cx="5175504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5087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Receiver Operating Characteristic (ROC) Curves</a:t>
            </a:r>
          </a:p>
        </p:txBody>
      </p:sp>
      <p:pic>
        <p:nvPicPr>
          <p:cNvPr id="13" name="Picture 12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4846320" cy="36347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17920" y="137160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1389888"/>
            <a:ext cx="5175504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087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Genetic Algorithm Generational Convergence</a:t>
            </a:r>
          </a:p>
        </p:txBody>
      </p:sp>
      <p:pic>
        <p:nvPicPr>
          <p:cNvPr id="17" name="Picture 16" descr="ga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4846320" cy="26924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31520" y="5440680"/>
            <a:ext cx="10728655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5458968"/>
            <a:ext cx="1069207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Biological &amp; Algorithmic Validation Takeaways: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1. ROC curves demonstrate that GA (AUC = 0.751) and PSO (AUC = 0.763) match the full 30-feature baseline (AUC = 0.766) while discarding up to 86.7% of redundant genomic noise.</a:t>
            </a:r>
            <a:br/>
            <a:r>
              <a:t>2. GA convergence trajectory validates steady elitist fitness progression across 20 generations, reliably isolating the 4 core biomarkers: LoFtool, AF_TGP, Max_AF, and IMPACT_HIGH.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PROTOTYPE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320040"/>
            <a:ext cx="109728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09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9: Working Prototype: Clinical Decision Support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Interactive web dashboard providing real-time discordance scoring and explainability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MutationHunter | Nature-Inspired Computing (GA &amp; PSO) in Clinical Genomics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6975" y="649224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ClinVar Conflicting Variant Study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389888"/>
            <a:ext cx="618134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1389888"/>
            <a:ext cx="6181344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1508760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1508760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3000" y="1508760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71600" y="1463040"/>
            <a:ext cx="411480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http://127.0.0.1:5000/ — MutationHunter Clinical AI 2.0</a:t>
            </a:r>
          </a:p>
        </p:txBody>
      </p:sp>
      <p:pic>
        <p:nvPicPr>
          <p:cNvPr id="17" name="Picture 16" descr="04_clinical_predictor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5943600" cy="39624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223760" y="1371600"/>
            <a:ext cx="42062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42048" y="1389888"/>
            <a:ext cx="4169664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50876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System Capabilities &amp; Applications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9202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 Clinical Input Console: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Direct entry for CADD scores, LoFtool intolerance, allele frequencies, and consequence annotations.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 1-Click Clinical Presets: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Instant evaluation chips for High-Conflict VUS, Consistent Benign, and Truncating Pathogenic variants.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 Real-Time Conflict Alert: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Instant classification call with two-tone probability distribution bar and confidence rating.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 Biological Explainability: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Generates human-readable clinical rationale detailing the biophysical drivers behind the conflict call.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 Dual-Mode Architecture: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Flask Python API with browser-native JavaScript fallback engine for zero-failure deployment.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 Real-World Clinical Impact: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Pre-screening triage in diagnostic sequencing pipelines, tumor boards, and VUS reinterpretation.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SUMMARY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320040"/>
            <a:ext cx="109728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10: Conclusion, Limitations &amp; Future Scope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Translational findings, engineering boundaries, and future research directions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MutationHunter | Nature-Inspired Computing (GA &amp; PSO) in Clinical Genomics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6975" y="649224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ClinVar Conflicting Variant Study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481328"/>
            <a:ext cx="5175504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4592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Segoe UI"/>
              </a:defRPr>
            </a:pPr>
            <a:r>
              <a:t>1. Key Findings &amp; Contributions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Nature-Inspired Computing resolves high-dimensional collinearity in genomics, outperforming full-feature baselines (70.40% Accuracy with PSO).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GA successfully pruned 86.7% of attributes down to 4 validated biomarkers (LoFtool, AF_TGP, Max_AF, IMPACT_HIGH).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Confirmed gene loss-of-function intolerance and population allele thresholds as primary determinants of clinical discordance.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481328"/>
            <a:ext cx="5175504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4592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Segoe UI"/>
              </a:defRPr>
            </a:pPr>
            <a:r>
              <a:t>2. Project Limitations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Confined to single-nucleotide variants (SNVs) and small indels; complex structural translocations and copy number variants (CNVs) not modeled.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Static cross-sectional ClinVar dataset; does not capture dynamic longitudinal assertion updates over time.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Class imbalance (75% consistent vs 25% conflicting) requires continued tuning of cost-sensitive thresholds.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77639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3995927"/>
            <a:ext cx="5175504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Segoe UI"/>
              </a:defRPr>
            </a:pPr>
            <a:r>
              <a:t>3. Future Research &amp; Engineering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Multi-Swarm Hybridization: Combining Ant Colony Optimization (ACO) with Artificial Immune Systems (AIS) for multi-objective search.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Deep Protein Language Models: Benchmarking evolved subsets against AlphaMissense and ESM-1b embeddings.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Clinical LIMS Integration: Developing HL7/FHIR compliant microservices for direct electronic health record workflow integration.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77639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3995927"/>
            <a:ext cx="517550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6052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4. Key Academic References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[1]  Landrum et al. (2018), "ClinVar: improving access to variant interpretations and supporting evidence." Nucleic Acids Res.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[2]  Rentzsch et al. (2019), "CADD: predicting the deleteriousness of variants throughout the human genome." Nucleic Acids Res.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[3]  Kennedy &amp; Eberhart (1995), "Particle Swarm Optimization." Proc. IEEE Int. Conf. Neural Networks.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[4]  Goldberg, D. E. (1989), "Genetic Algorithms in Search, Optimization and Machine Learning." Addison-Wesley.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